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Clientes digitales (%)</c:v>
                </c:pt>
              </c:strCache>
            </c:strRef>
          </c:tx>
          <c:spPr>
            <a:solidFill>
              <a:srgbClr val="00257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  <c:pt idx="3">
                    <c:v>2026</c:v>
                  </c:pt>
                  <c:pt idx="4">
                    <c:v>2027e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</c:v>
                </c:pt>
                <c:pt idx="1">
                  <c:v>24</c:v>
                </c:pt>
                <c:pt idx="2">
                  <c:v>31</c:v>
                </c:pt>
                <c:pt idx="3">
                  <c:v>38</c:v>
                </c:pt>
                <c:pt idx="4">
                  <c:v>47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A1F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47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 (SL_PORTADA). Sustituye título, subtítulo y ponente. El logo se toma de assets/logo-blanco.png.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sobre SL_CONTENIDO. El círculo amarillo marca el punto actual; muévelo si repites la agenda entre secciones.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Separador de sección (SL_SECCION).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Contenido con viñetas (SL_CONTENIDO). Máximo 5-6 líneas por diapositiva.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Comparativa en dos columnas (SL_DOS_COLUMNAS).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Cifras destacadas (SL_SUAVE). Destaca en azul solo la cifra principal.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Imagen + texto (SL_IMAGEN). Usa fotografía real, luminosa y con personas.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Cronograma sobre SL_CONTENIDO. El hito amarillo marca la fase actual o crítica.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Gráfico nativo editable (clic derecho &gt; Editar datos). Datos de ejemplo.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(SL_CIERRE).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_PORTADA">
    <p:bg>
      <p:bgPr>
        <a:solidFill>
          <a:srgbClr val="0025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6815" y="-1463040"/>
            <a:ext cx="6858000" cy="6858000"/>
          </a:xfrm>
          <a:prstGeom prst="ellipse">
            <a:avLst/>
          </a:prstGeom>
          <a:solidFill>
            <a:srgbClr val="001A57">
              <a:alpha val="8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808415" y="-91440"/>
            <a:ext cx="4114800" cy="4114800"/>
          </a:xfrm>
          <a:prstGeom prst="ellipse">
            <a:avLst/>
          </a:prstGeom>
          <a:solidFill>
            <a:srgbClr val="002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10088575" y="4937760"/>
            <a:ext cx="1005840" cy="1005840"/>
          </a:xfrm>
          <a:prstGeom prst="ellipse">
            <a:avLst/>
          </a:prstGeom>
          <a:solidFill>
            <a:srgbClr val="FED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2011680" cy="640080"/>
          </a:xfrm>
          <a:prstGeom prst="rect">
            <a:avLst/>
          </a:prstGeom>
          <a:ln w="9525">
            <a:solidFill>
              <a:srgbClr val="C9D5EE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502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900" dirty="0"/>
          </a:p>
        </p:txBody>
      </p:sp>
      <p:sp>
        <p:nvSpPr>
          <p:cNvPr id="7" name="Text 5"/>
          <p:cNvSpPr/>
          <p:nvPr>
            <p:ph idx="105" type="title" hasCustomPrompt="1"/>
          </p:nvPr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 la presentación</a:t>
            </a:r>
            <a:endParaRPr lang="en-US" sz="4400" dirty="0"/>
          </a:p>
        </p:txBody>
      </p:sp>
      <p:sp>
        <p:nvSpPr>
          <p:cNvPr id="8" name="Text 5"/>
          <p:cNvSpPr/>
          <p:nvPr>
            <p:ph idx="106" type="body" hasCustomPrompt="1"/>
          </p:nvPr>
        </p:nvSpPr>
        <p:spPr>
          <a:xfrm>
            <a:off x="548640" y="3977640"/>
            <a:ext cx="749808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20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Subtítulo o propósito de la reunión</a:t>
            </a:r>
            <a:endParaRPr lang="en-US" sz="2000" dirty="0"/>
          </a:p>
        </p:txBody>
      </p:sp>
      <p:sp>
        <p:nvSpPr>
          <p:cNvPr id="9" name="Text 5"/>
          <p:cNvSpPr/>
          <p:nvPr>
            <p:ph idx="107" type="body" hasCustomPrompt="1"/>
          </p:nvPr>
        </p:nvSpPr>
        <p:spPr>
          <a:xfrm>
            <a:off x="548640" y="5852160"/>
            <a:ext cx="548640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del ponente · Fecha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_SECCION">
    <p:bg>
      <p:bgPr>
        <a:solidFill>
          <a:srgbClr val="0025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2011680" y="3383280"/>
            <a:ext cx="5486400" cy="5486400"/>
          </a:xfrm>
          <a:prstGeom prst="ellipse">
            <a:avLst/>
          </a:prstGeom>
          <a:solidFill>
            <a:srgbClr val="001A57">
              <a:alpha val="8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-914400" y="4480560"/>
            <a:ext cx="3291840" cy="3291840"/>
          </a:xfrm>
          <a:prstGeom prst="ellipse">
            <a:avLst/>
          </a:prstGeom>
          <a:solidFill>
            <a:srgbClr val="002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Shape 2"/>
          <p:cNvSpPr/>
          <p:nvPr/>
        </p:nvSpPr>
        <p:spPr>
          <a:xfrm>
            <a:off x="10180015" y="5989320"/>
            <a:ext cx="1463040" cy="457200"/>
          </a:xfrm>
          <a:prstGeom prst="rect">
            <a:avLst/>
          </a:prstGeom>
          <a:ln w="9525">
            <a:solidFill>
              <a:srgbClr val="C9D5EE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10180015" y="59893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900" dirty="0"/>
          </a:p>
        </p:txBody>
      </p:sp>
      <p:sp>
        <p:nvSpPr>
          <p:cNvPr id="6" name="Text 4"/>
          <p:cNvSpPr/>
          <p:nvPr>
            <p:ph idx="104" type="body" hasCustomPrompt="1"/>
          </p:nvPr>
        </p:nvSpPr>
        <p:spPr>
          <a:xfrm>
            <a:off x="4206240" y="1463040"/>
            <a:ext cx="2743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7200" b="1" dirty="0">
                <a:solidFill>
                  <a:srgbClr val="FEDD42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7200" b="1" dirty="0">
                <a:solidFill>
                  <a:srgbClr val="FED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7" name="Text 4"/>
          <p:cNvSpPr/>
          <p:nvPr>
            <p:ph idx="105" type="title" hasCustomPrompt="1"/>
          </p:nvPr>
        </p:nvSpPr>
        <p:spPr>
          <a:xfrm>
            <a:off x="4206240" y="2834640"/>
            <a:ext cx="7315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 la sección</a:t>
            </a:r>
            <a:endParaRPr lang="en-US" sz="4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_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1280160" cy="411480"/>
          </a:xfrm>
          <a:prstGeom prst="rect">
            <a:avLst/>
          </a:prstGeom>
          <a:ln w="9525">
            <a:solidFill>
              <a:srgbClr val="5B6477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362895" y="502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5B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411480"/>
            <a:ext cx="94484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 la diapositiva</a:t>
            </a:r>
            <a:endParaRPr lang="en-US" sz="32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1508760"/>
            <a:ext cx="11094415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del contenido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_DOS_COLUMNA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1280160" cy="411480"/>
          </a:xfrm>
          <a:prstGeom prst="rect">
            <a:avLst/>
          </a:prstGeom>
          <a:ln w="9525">
            <a:solidFill>
              <a:srgbClr val="5B6477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362895" y="502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5B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411480"/>
            <a:ext cx="94484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 la diapositiva</a:t>
            </a:r>
            <a:endParaRPr lang="en-US" sz="3200" dirty="0"/>
          </a:p>
        </p:txBody>
      </p:sp>
      <p:sp>
        <p:nvSpPr>
          <p:cNvPr id="5" name="Text 2"/>
          <p:cNvSpPr/>
          <p:nvPr>
            <p:ph idx="103" type="body" hasCustomPrompt="1"/>
          </p:nvPr>
        </p:nvSpPr>
        <p:spPr>
          <a:xfrm>
            <a:off x="548640" y="1508760"/>
            <a:ext cx="530352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 izquierda</a:t>
            </a:r>
            <a:endParaRPr lang="en-US" sz="1600" dirty="0"/>
          </a:p>
        </p:txBody>
      </p:sp>
      <p:sp>
        <p:nvSpPr>
          <p:cNvPr id="6" name="Text 2"/>
          <p:cNvSpPr/>
          <p:nvPr>
            <p:ph idx="104" type="body" hasCustomPrompt="1"/>
          </p:nvPr>
        </p:nvSpPr>
        <p:spPr>
          <a:xfrm>
            <a:off x="6339535" y="1508760"/>
            <a:ext cx="5303520" cy="4572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Columna derecha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_IMAGE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263" cy="6858000"/>
          </a:xfrm>
          <a:prstGeom prst="rect">
            <a:avLst/>
          </a:prstGeom>
          <a:solidFill>
            <a:srgbClr val="EEF2FA"/>
          </a:solidFill>
          <a:ln/>
        </p:spPr>
      </p:sp>
      <p:sp>
        <p:nvSpPr>
          <p:cNvPr id="3" name="Text 1"/>
          <p:cNvSpPr/>
          <p:nvPr>
            <p:ph idx="101" hasCustomPrompt="1"/>
          </p:nvPr>
        </p:nvSpPr>
        <p:spPr>
          <a:xfrm>
            <a:off x="0" y="0"/>
            <a:ext cx="5486263" cy="68580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Insertar imagen</a:t>
            </a:r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10362895" y="502920"/>
            <a:ext cx="1280160" cy="411480"/>
          </a:xfrm>
          <a:prstGeom prst="rect">
            <a:avLst/>
          </a:prstGeom>
          <a:ln w="9525">
            <a:solidFill>
              <a:srgbClr val="5B6477"/>
            </a:solidFill>
            <a:prstDash val="dash"/>
          </a:ln>
        </p:spPr>
      </p:sp>
      <p:sp>
        <p:nvSpPr>
          <p:cNvPr id="5" name="Text 2"/>
          <p:cNvSpPr/>
          <p:nvPr/>
        </p:nvSpPr>
        <p:spPr>
          <a:xfrm>
            <a:off x="10362895" y="502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5B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900" dirty="0"/>
          </a:p>
        </p:txBody>
      </p:sp>
      <p:sp>
        <p:nvSpPr>
          <p:cNvPr id="6" name="Text 3"/>
          <p:cNvSpPr/>
          <p:nvPr>
            <p:ph idx="104" type="title" hasCustomPrompt="1"/>
          </p:nvPr>
        </p:nvSpPr>
        <p:spPr>
          <a:xfrm>
            <a:off x="6126343" y="1280160"/>
            <a:ext cx="5516712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</a:t>
            </a:r>
            <a:endParaRPr lang="en-US" sz="3200" dirty="0"/>
          </a:p>
        </p:txBody>
      </p:sp>
      <p:sp>
        <p:nvSpPr>
          <p:cNvPr id="7" name="Text 3"/>
          <p:cNvSpPr/>
          <p:nvPr>
            <p:ph idx="105" type="body" hasCustomPrompt="1"/>
          </p:nvPr>
        </p:nvSpPr>
        <p:spPr>
          <a:xfrm>
            <a:off x="6126343" y="2834640"/>
            <a:ext cx="5516712" cy="3108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16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Texto descriptivo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_SUAVE">
    <p:bg>
      <p:bgPr>
        <a:solidFill>
          <a:srgbClr val="EEF2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362895" y="502920"/>
            <a:ext cx="1280160" cy="411480"/>
          </a:xfrm>
          <a:prstGeom prst="rect">
            <a:avLst/>
          </a:prstGeom>
          <a:ln w="9525">
            <a:solidFill>
              <a:srgbClr val="5B6477"/>
            </a:solidFill>
            <a:prstDash val="dash"/>
          </a:ln>
        </p:spPr>
      </p:sp>
      <p:sp>
        <p:nvSpPr>
          <p:cNvPr id="3" name="Text 1"/>
          <p:cNvSpPr/>
          <p:nvPr/>
        </p:nvSpPr>
        <p:spPr>
          <a:xfrm>
            <a:off x="10362895" y="50292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5B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900" dirty="0"/>
          </a:p>
        </p:txBody>
      </p:sp>
      <p:sp>
        <p:nvSpPr>
          <p:cNvPr id="4" name="Text 2"/>
          <p:cNvSpPr/>
          <p:nvPr>
            <p:ph idx="102" type="title" hasCustomPrompt="1"/>
          </p:nvPr>
        </p:nvSpPr>
        <p:spPr>
          <a:xfrm>
            <a:off x="548640" y="411480"/>
            <a:ext cx="944849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32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Título de la diapositiva</a:t>
            </a: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_CIERRE">
    <p:bg>
      <p:bgPr>
        <a:solidFill>
          <a:srgbClr val="0025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36815" y="2834640"/>
            <a:ext cx="6858000" cy="6858000"/>
          </a:xfrm>
          <a:prstGeom prst="ellipse">
            <a:avLst/>
          </a:prstGeom>
          <a:solidFill>
            <a:srgbClr val="001A57">
              <a:alpha val="8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8808415" y="4206240"/>
            <a:ext cx="4114800" cy="4114800"/>
          </a:xfrm>
          <a:prstGeom prst="ellipse">
            <a:avLst/>
          </a:prstGeom>
          <a:solidFill>
            <a:srgbClr val="00257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9082735" y="822960"/>
            <a:ext cx="822960" cy="822960"/>
          </a:xfrm>
          <a:prstGeom prst="ellipse">
            <a:avLst/>
          </a:prstGeom>
          <a:solidFill>
            <a:srgbClr val="FEDD4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2011680" cy="640080"/>
          </a:xfrm>
          <a:prstGeom prst="rect">
            <a:avLst/>
          </a:prstGeom>
          <a:ln w="9525">
            <a:solidFill>
              <a:srgbClr val="C9D5EE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548640" y="502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LOGO</a:t>
            </a:r>
            <a:endParaRPr lang="en-US" sz="900" dirty="0"/>
          </a:p>
        </p:txBody>
      </p:sp>
      <p:sp>
        <p:nvSpPr>
          <p:cNvPr id="7" name="Text 5"/>
          <p:cNvSpPr/>
          <p:nvPr>
            <p:ph idx="105" type="title" hasCustomPrompt="1"/>
          </p:nvPr>
        </p:nvSpPr>
        <p:spPr>
          <a:xfrm>
            <a:off x="548640" y="2194560"/>
            <a:ext cx="7315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5400" dirty="0"/>
          </a:p>
        </p:txBody>
      </p:sp>
      <p:sp>
        <p:nvSpPr>
          <p:cNvPr id="8" name="Text 5"/>
          <p:cNvSpPr/>
          <p:nvPr>
            <p:ph idx="106" type="body" hasCustomPrompt="1"/>
          </p:nvPr>
        </p:nvSpPr>
        <p:spPr>
          <a:xfrm>
            <a:off x="548640" y="3657600"/>
            <a:ext cx="731520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r>
              <a:rPr lang="en-US" sz="18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nombre@correo.com · +34 600 000 000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548640" y="2103120"/>
            <a:ext cx="7498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 de transformación digital del canal agencial</a:t>
            </a:r>
            <a:endParaRPr lang="en-US" sz="4400" dirty="0"/>
          </a:p>
        </p:txBody>
      </p:sp>
      <p:sp>
        <p:nvSpPr>
          <p:cNvPr id="3" name="Text 5"/>
          <p:cNvSpPr/>
          <p:nvPr>
            <p:ph idx="106" type="body" hasCustomPrompt="1"/>
          </p:nvPr>
        </p:nvSpPr>
        <p:spPr>
          <a:xfrm>
            <a:off x="548640" y="39776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Presentación para el proceso de selección</a:t>
            </a:r>
            <a:endParaRPr lang="en-US" sz="2000" dirty="0"/>
          </a:p>
        </p:txBody>
      </p:sp>
      <p:sp>
        <p:nvSpPr>
          <p:cNvPr id="4" name="Text 5"/>
          <p:cNvSpPr/>
          <p:nvPr>
            <p:ph idx="107" type="body" hasCustomPrompt="1"/>
          </p:nvPr>
        </p:nvSpPr>
        <p:spPr>
          <a:xfrm>
            <a:off x="548640" y="58521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Apellido · Octubre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411480"/>
            <a:ext cx="9448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594360" cy="594360"/>
          </a:xfrm>
          <a:prstGeom prst="ellipse">
            <a:avLst/>
          </a:prstGeom>
          <a:solidFill>
            <a:srgbClr val="FEDD4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645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4592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punto de partida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94360" cy="594360"/>
          </a:xfrm>
          <a:prstGeom prst="ellipse">
            <a:avLst/>
          </a:prstGeom>
          <a:solidFill>
            <a:srgbClr val="0025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514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51460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48640" y="3383280"/>
            <a:ext cx="594360" cy="594360"/>
          </a:xfrm>
          <a:prstGeom prst="ellipse">
            <a:avLst/>
          </a:prstGeom>
          <a:solidFill>
            <a:srgbClr val="00257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48640" y="33832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38328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4251960"/>
            <a:ext cx="594360" cy="594360"/>
          </a:xfrm>
          <a:prstGeom prst="ellipse">
            <a:avLst/>
          </a:prstGeom>
          <a:solidFill>
            <a:srgbClr val="00257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42519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4251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implantación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5120640"/>
            <a:ext cx="594360" cy="594360"/>
          </a:xfrm>
          <a:prstGeom prst="ellipse">
            <a:avLst/>
          </a:prstGeom>
          <a:solidFill>
            <a:srgbClr val="00257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548640" y="51206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51206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Próximos pasos</a:t>
            </a:r>
            <a:endParaRPr lang="en-US" sz="2000" dirty="0"/>
          </a:p>
        </p:txBody>
      </p:sp>
      <p:sp>
        <p:nvSpPr>
          <p:cNvPr id="19" name="Text 2"/>
          <p:cNvSpPr/>
          <p:nvPr>
            <p:ph idx="103" type="body" hasCustomPrompt="1"/>
          </p:nvPr>
        </p:nvSpPr>
        <p:spPr>
          <a:xfrm>
            <a:off x="548640" y="150876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4"/>
          <p:cNvSpPr/>
          <p:nvPr>
            <p:ph idx="104" type="body" hasCustomPrompt="1"/>
          </p:nvPr>
        </p:nvSpPr>
        <p:spPr>
          <a:xfrm>
            <a:off x="4206240" y="1463040"/>
            <a:ext cx="2743200" cy="12801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algn="l" indent="0" marL="0">
              <a:buNone/>
            </a:pPr>
            <a:r>
              <a:rPr lang="en-US" sz="7200" b="1" dirty="0">
                <a:solidFill>
                  <a:srgbClr val="FED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3" name="Text 4"/>
          <p:cNvSpPr/>
          <p:nvPr>
            <p:ph idx="105" type="title" hasCustomPrompt="1"/>
          </p:nvPr>
        </p:nvSpPr>
        <p:spPr>
          <a:xfrm>
            <a:off x="4206240" y="283464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 y punto de partida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411480"/>
            <a:ext cx="9448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Qué hemos observado</a:t>
            </a:r>
            <a:endParaRPr lang="en-US" sz="3200" dirty="0"/>
          </a:p>
        </p:txBody>
      </p:sp>
      <p:sp>
        <p:nvSpPr>
          <p:cNvPr id="3" name="Text 2"/>
          <p:cNvSpPr/>
          <p:nvPr>
            <p:ph idx="103" type="body" hasCustomPrompt="1"/>
          </p:nvPr>
        </p:nvSpPr>
        <p:spPr>
          <a:xfrm>
            <a:off x="548640" y="150876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clientes esperan contratar y gestionar sus pólizas desde el móvil</a:t>
            </a:r>
            <a:endParaRPr lang="en-US" sz="2000" dirty="0"/>
          </a:p>
          <a:p>
            <a:pPr algn="l"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red agencial sigue siendo el principal canal de confianza</a:t>
            </a:r>
            <a:endParaRPr lang="en-US" sz="2000" dirty="0"/>
          </a:p>
          <a:p>
            <a:pPr algn="l"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 procesos de siniestros concentran la mayor parte de las consultas</a:t>
            </a:r>
            <a:endParaRPr lang="en-US" sz="2000" dirty="0"/>
          </a:p>
          <a:p>
            <a:pPr algn="l" marL="342900" indent="-342900">
              <a:spcAft>
                <a:spcPts val="1600"/>
              </a:spcAft>
              <a:buSzPct val="100000"/>
              <a:buChar char="•"/>
            </a:pPr>
            <a:r>
              <a:rPr lang="en-US" sz="20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Existe una oportunidad clara en la venta cruzada de productos de ahorro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4663440"/>
            <a:ext cx="11094415" cy="1188720"/>
          </a:xfrm>
          <a:prstGeom prst="roundRect">
            <a:avLst>
              <a:gd name="adj" fmla="val 9231"/>
            </a:avLst>
          </a:prstGeom>
          <a:solidFill>
            <a:srgbClr val="EEF2FA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4983480"/>
            <a:ext cx="548640" cy="548640"/>
          </a:xfrm>
          <a:prstGeom prst="ellipse">
            <a:avLst/>
          </a:prstGeom>
          <a:solidFill>
            <a:srgbClr val="FEDD4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49834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691640" y="4663440"/>
            <a:ext cx="963137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Mensaje clave: el agente es el centro de la experiencia digital, no su sustituto.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411480"/>
            <a:ext cx="9448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Situación actual frente a propuesta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065215" y="1280160"/>
            <a:ext cx="5577840" cy="2834640"/>
          </a:xfrm>
          <a:prstGeom prst="roundRect">
            <a:avLst>
              <a:gd name="adj" fmla="val 3871"/>
            </a:avLst>
          </a:prstGeom>
          <a:solidFill>
            <a:srgbClr val="EEF2FA"/>
          </a:solidFill>
          <a:ln/>
        </p:spPr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548640" y="1508760"/>
            <a:ext cx="5303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5B64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Alta de pólizas en papel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Seguimiento de siniestros por teléfono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cliente dispersos</a:t>
            </a:r>
            <a:endParaRPr lang="en-US" sz="1600" dirty="0"/>
          </a:p>
        </p:txBody>
      </p:sp>
      <p:sp>
        <p:nvSpPr>
          <p:cNvPr id="5" name="Text 2"/>
          <p:cNvSpPr/>
          <p:nvPr>
            <p:ph idx="104" type="body" hasCustomPrompt="1"/>
          </p:nvPr>
        </p:nvSpPr>
        <p:spPr>
          <a:xfrm>
            <a:off x="6339535" y="1508760"/>
            <a:ext cx="53035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Propuesta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Contratación digital con firma electrónica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del siniestro en tiempo real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Visión 360º del cliente para el agente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411480"/>
            <a:ext cx="9448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Cifras clave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454298" cy="3474720"/>
          </a:xfrm>
          <a:prstGeom prst="roundRect">
            <a:avLst>
              <a:gd name="adj" fmla="val 3971"/>
            </a:avLst>
          </a:prstGeom>
          <a:solidFill>
            <a:srgbClr val="00257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2286000"/>
            <a:ext cx="2722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ED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+25%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914400" y="3657600"/>
            <a:ext cx="27227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con gestión digital en 12 meses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368698" y="1828800"/>
            <a:ext cx="3454298" cy="3474720"/>
          </a:xfrm>
          <a:prstGeom prst="roundRect">
            <a:avLst>
              <a:gd name="adj" fmla="val 3971"/>
            </a:avLst>
          </a:prstGeom>
          <a:solidFill>
            <a:srgbClr val="FFFF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734458" y="2286000"/>
            <a:ext cx="2722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-30%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734458" y="3657600"/>
            <a:ext cx="27227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tiempo medio de tramitación de siniestros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188757" y="1828800"/>
            <a:ext cx="3454298" cy="3474720"/>
          </a:xfrm>
          <a:prstGeom prst="roundRect">
            <a:avLst>
              <a:gd name="adj" fmla="val 397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554517" y="2286000"/>
            <a:ext cx="272277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4,6/5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8554517" y="3657600"/>
            <a:ext cx="272277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satisfacción objetivo del cliente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3"/>
          <p:cNvSpPr/>
          <p:nvPr>
            <p:ph idx="104" type="title" hasCustomPrompt="1"/>
          </p:nvPr>
        </p:nvSpPr>
        <p:spPr>
          <a:xfrm>
            <a:off x="6126343" y="1280160"/>
            <a:ext cx="551671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Cerca de las personas</a:t>
            </a:r>
            <a:endParaRPr lang="en-US" sz="3200" dirty="0"/>
          </a:p>
        </p:txBody>
      </p:sp>
      <p:sp>
        <p:nvSpPr>
          <p:cNvPr id="3" name="Text 3"/>
          <p:cNvSpPr/>
          <p:nvPr>
            <p:ph idx="105" type="body" hasCustomPrompt="1"/>
          </p:nvPr>
        </p:nvSpPr>
        <p:spPr>
          <a:xfrm>
            <a:off x="6126343" y="2834640"/>
            <a:ext cx="5516712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este diseño para casos de cliente, testimonios o para presentar un producto. Haz clic en el icono del marcador de la izquierda para insertar una fotografía.</a:t>
            </a:r>
            <a:endParaRPr lang="en-US" sz="1600" dirty="0"/>
          </a:p>
        </p:txBody>
      </p:sp>
      <p:sp>
        <p:nvSpPr>
          <p:cNvPr id="5" name="Text 1"/>
          <p:cNvSpPr/>
          <p:nvPr>
            <p:ph idx="101" hasCustomPrompt="1"/>
          </p:nvPr>
        </p:nvSpPr>
        <p:spPr>
          <a:xfrm>
            <a:off x="0" y="0"/>
            <a:ext cx="5486263" cy="68580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411480"/>
            <a:ext cx="9448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de implantación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822960" y="2880360"/>
            <a:ext cx="8412251" cy="0"/>
          </a:xfrm>
          <a:prstGeom prst="line">
            <a:avLst/>
          </a:prstGeom>
          <a:noFill/>
          <a:ln w="25400">
            <a:solidFill>
              <a:srgbClr val="C9D5E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2560320"/>
            <a:ext cx="640080" cy="640080"/>
          </a:xfrm>
          <a:prstGeom prst="ellipse">
            <a:avLst/>
          </a:prstGeom>
          <a:solidFill>
            <a:srgbClr val="00257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74720"/>
            <a:ext cx="2407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Diagnóstico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77640"/>
            <a:ext cx="24078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Entrevistas con la red y análisis de datos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22244" y="2560320"/>
            <a:ext cx="640080" cy="640080"/>
          </a:xfrm>
          <a:prstGeom prst="ellipse">
            <a:avLst/>
          </a:prstGeom>
          <a:solidFill>
            <a:srgbClr val="FEDD4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22244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322244" y="3474720"/>
            <a:ext cx="2407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Piloto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3322244" y="3977640"/>
            <a:ext cx="24078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Tres oficinas y un producto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095848" y="2560320"/>
            <a:ext cx="640080" cy="640080"/>
          </a:xfrm>
          <a:prstGeom prst="ellipse">
            <a:avLst/>
          </a:prstGeom>
          <a:solidFill>
            <a:srgbClr val="00257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095848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095848" y="3474720"/>
            <a:ext cx="2407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Escalado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095848" y="3977640"/>
            <a:ext cx="24078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Despliegue por territorios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869451" y="2560320"/>
            <a:ext cx="640080" cy="640080"/>
          </a:xfrm>
          <a:prstGeom prst="ellipse">
            <a:avLst/>
          </a:prstGeom>
          <a:solidFill>
            <a:srgbClr val="0025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869451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T4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869451" y="3474720"/>
            <a:ext cx="24078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Consolidación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8869451" y="3977640"/>
            <a:ext cx="240784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Medición y mejora continua</a:t>
            </a:r>
            <a:endParaRPr lang="en-US" sz="1500" dirty="0"/>
          </a:p>
        </p:txBody>
      </p:sp>
      <p:sp>
        <p:nvSpPr>
          <p:cNvPr id="21" name="Text 2"/>
          <p:cNvSpPr/>
          <p:nvPr>
            <p:ph idx="103" type="body" hasCustomPrompt="1"/>
          </p:nvPr>
        </p:nvSpPr>
        <p:spPr>
          <a:xfrm>
            <a:off x="548640" y="150876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/>
          <p:nvPr>
            <p:ph idx="102" type="title" hasCustomPrompt="1"/>
          </p:nvPr>
        </p:nvSpPr>
        <p:spPr>
          <a:xfrm>
            <a:off x="548640" y="411480"/>
            <a:ext cx="94484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Evolución de clientes digitales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508760"/>
          <a:ext cx="74980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595360" y="2194560"/>
            <a:ext cx="304769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0025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47%</a:t>
            </a:r>
            <a:endParaRPr lang="en-US" sz="4800" dirty="0"/>
          </a:p>
          <a:p>
            <a:pPr indent="0" marL="0">
              <a:buNone/>
            </a:pPr>
            <a:r>
              <a:rPr lang="en-US" sz="1600" dirty="0">
                <a:solidFill>
                  <a:srgbClr val="1A1F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los clientes gestionarán sus pólizas en digital en 2027</a:t>
            </a:r>
            <a:endParaRPr lang="en-US" sz="4800" dirty="0"/>
          </a:p>
        </p:txBody>
      </p:sp>
      <p:sp>
        <p:nvSpPr>
          <p:cNvPr id="6" name="Text 2"/>
          <p:cNvSpPr/>
          <p:nvPr>
            <p:ph idx="103" type="body" hasCustomPrompt="1"/>
          </p:nvPr>
        </p:nvSpPr>
        <p:spPr>
          <a:xfrm>
            <a:off x="548640" y="150876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B647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5"/>
          <p:cNvSpPr/>
          <p:nvPr>
            <p:ph idx="105" type="title" hasCustomPrompt="1"/>
          </p:nvPr>
        </p:nvSpPr>
        <p:spPr>
          <a:xfrm>
            <a:off x="548640" y="219456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Gracias</a:t>
            </a:r>
            <a:endParaRPr lang="en-US" sz="5400" dirty="0"/>
          </a:p>
        </p:txBody>
      </p:sp>
      <p:sp>
        <p:nvSpPr>
          <p:cNvPr id="3" name="Text 5"/>
          <p:cNvSpPr/>
          <p:nvPr>
            <p:ph idx="106" type="body" hasCustomPrompt="1"/>
          </p:nvPr>
        </p:nvSpPr>
        <p:spPr>
          <a:xfrm>
            <a:off x="548640" y="36576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 Apellido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5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nombre@correo.com · linkedin.com/in/usuario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Santalucía Seguros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Plantilla Santalucía</dc:title>
  <dc:subject>PptxGenJS Presentation</dc:subject>
  <dc:creator>PptxGenJS</dc:creator>
  <cp:lastModifiedBy>PptxGenJS</cp:lastModifiedBy>
  <cp:revision>1</cp:revision>
  <dcterms:created xsi:type="dcterms:W3CDTF">2026-09-30T11:06:53Z</dcterms:created>
  <dcterms:modified xsi:type="dcterms:W3CDTF">2026-09-30T11:06:53Z</dcterms:modified>
</cp:coreProperties>
</file>